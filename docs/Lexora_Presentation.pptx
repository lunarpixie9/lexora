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0" d="100"/>
          <a:sy n="80" d="100"/>
        </p:scale>
        <p:origin x="754" y="-71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006581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Relationship Id="rId4" Type="http://schemas.openxmlformats.org/officeDocument/2006/relationships/image" Target="../media/image5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2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645920"/>
            <a:ext cx="4754880" cy="475488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4206240"/>
            <a:ext cx="3291840" cy="3291840"/>
          </a:xfrm>
          <a:prstGeom prst="ellipse">
            <a:avLst/>
          </a:prstGeom>
          <a:solidFill>
            <a:srgbClr val="00A896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280160" y="4846320"/>
            <a:ext cx="3474720" cy="3474720"/>
          </a:xfrm>
          <a:prstGeom prst="ellipse">
            <a:avLst/>
          </a:prstGeom>
          <a:solidFill>
            <a:srgbClr val="02C39A">
              <a:alpha val="3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4173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PROJECT BRIEF  •  SEM 5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" y="1783080"/>
            <a:ext cx="8686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Lexora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822960" y="2880360"/>
            <a:ext cx="7589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F4F9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Dyslexia Screening &amp; Personalized Literacy Engine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3703320"/>
            <a:ext cx="2011680" cy="0"/>
          </a:xfrm>
          <a:prstGeom prst="line">
            <a:avLst/>
          </a:prstGeom>
          <a:noFill/>
          <a:ln w="31750">
            <a:solidFill>
              <a:srgbClr val="00A89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886200"/>
            <a:ext cx="7498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7D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screening aid — not a diagnostic tool — that flags early indicators of dyslexia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7D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child's reading, writing, and speech, then generates personalized practice content.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22960" y="6172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B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BCA 5th Semester, CHRIST (Deemed to be University)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82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B7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Dyslexia support in Indian schools has real, structural gaps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49240" cy="2057400"/>
          </a:xfrm>
          <a:prstGeom prst="roundRect">
            <a:avLst>
              <a:gd name="adj" fmla="val 5333"/>
            </a:avLst>
          </a:prstGeom>
          <a:solidFill>
            <a:srgbClr val="F4F9F8"/>
          </a:solidFill>
          <a:ln/>
          <a:effectLst>
            <a:outerShdw blurRad="101600" dist="38100" dir="5400000" algn="bl" rotWithShape="0">
              <a:srgbClr val="1B3A3A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74520"/>
            <a:ext cx="685800" cy="68580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6" name="Image 0" descr="icon_underdiagno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114" y="1963674"/>
            <a:ext cx="507492" cy="5074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856232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182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Massively underdiagnosed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22960" y="2514600"/>
            <a:ext cx="48006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7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depends on costly clinical assessments or specialists unavailable outside metro cities.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63640" y="1600200"/>
            <a:ext cx="5349240" cy="2057400"/>
          </a:xfrm>
          <a:prstGeom prst="roundRect">
            <a:avLst>
              <a:gd name="adj" fmla="val 5333"/>
            </a:avLst>
          </a:prstGeom>
          <a:solidFill>
            <a:srgbClr val="F4F9F8"/>
          </a:solidFill>
          <a:ln/>
          <a:effectLst>
            <a:outerShdw blurRad="101600" dist="38100" dir="5400000" algn="bl" rotWithShape="0">
              <a:srgbClr val="1B3A3A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37960" y="1874520"/>
            <a:ext cx="685800" cy="68580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1" name="Image 1" descr="icon_teach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7114" y="1963674"/>
            <a:ext cx="507492" cy="50749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406640" y="1856232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182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lightweight tool for teachers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6537960" y="2514600"/>
            <a:ext cx="48006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7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classroom teachers (not special-ed trained) can't flag “this child needs a closer look” early, ages 6–10.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3931920"/>
            <a:ext cx="5349240" cy="2057400"/>
          </a:xfrm>
          <a:prstGeom prst="roundRect">
            <a:avLst>
              <a:gd name="adj" fmla="val 5333"/>
            </a:avLst>
          </a:prstGeom>
          <a:solidFill>
            <a:srgbClr val="F4F9F8"/>
          </a:solidFill>
          <a:ln/>
          <a:effectLst>
            <a:outerShdw blurRad="101600" dist="38100" dir="5400000" algn="bl" rotWithShape="0">
              <a:srgbClr val="1B3A3A">
                <a:alpha val="1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2960" y="4206240"/>
            <a:ext cx="685800" cy="68580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6" name="Image 2" descr="icon_glob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114" y="4295394"/>
            <a:ext cx="507492" cy="50749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91640" y="4187952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182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Existing apps don't fit India</a:t>
            </a:r>
            <a:endParaRPr lang="en-US" sz="1550" dirty="0"/>
          </a:p>
        </p:txBody>
      </p:sp>
      <p:sp>
        <p:nvSpPr>
          <p:cNvPr id="18" name="Text 13"/>
          <p:cNvSpPr/>
          <p:nvPr/>
        </p:nvSpPr>
        <p:spPr>
          <a:xfrm>
            <a:off x="822960" y="4846320"/>
            <a:ext cx="48006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7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tools are Western, English-only, and expensive — few handle Indian accents or Hindi-English code-mixing.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263640" y="3931920"/>
            <a:ext cx="5349240" cy="2057400"/>
          </a:xfrm>
          <a:prstGeom prst="roundRect">
            <a:avLst>
              <a:gd name="adj" fmla="val 5333"/>
            </a:avLst>
          </a:prstGeom>
          <a:solidFill>
            <a:srgbClr val="F4F9F8"/>
          </a:solidFill>
          <a:ln/>
          <a:effectLst>
            <a:outerShdw blurRad="101600" dist="38100" dir="5400000" algn="bl" rotWithShape="0">
              <a:srgbClr val="1B3A3A">
                <a:alpha val="1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537960" y="4206240"/>
            <a:ext cx="685800" cy="68580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1" name="Image 3" descr="icon_syn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7114" y="4295394"/>
            <a:ext cx="507492" cy="50749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406640" y="4187952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182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follow-up when risk is flagged</a:t>
            </a:r>
            <a:endParaRPr lang="en-US" sz="1550" dirty="0"/>
          </a:p>
        </p:txBody>
      </p:sp>
      <p:sp>
        <p:nvSpPr>
          <p:cNvPr id="23" name="Text 17"/>
          <p:cNvSpPr/>
          <p:nvPr/>
        </p:nvSpPr>
        <p:spPr>
          <a:xfrm>
            <a:off x="6537960" y="4846320"/>
            <a:ext cx="48006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7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a flagged risk usually leads nowhere — there's no personalized practice content to close the loop.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52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Solution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FC7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layers that turn reading, writing &amp; speech signals into personalized action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542032" cy="4434840"/>
          </a:xfrm>
          <a:prstGeom prst="roundRect">
            <a:avLst>
              <a:gd name="adj" fmla="val 4317"/>
            </a:avLst>
          </a:prstGeom>
          <a:solidFill>
            <a:srgbClr val="0B3F41"/>
          </a:solidFill>
          <a:ln w="12700">
            <a:solidFill>
              <a:srgbClr val="0F4E5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37360"/>
            <a:ext cx="22677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408176" y="2011680"/>
            <a:ext cx="822960" cy="82296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7" name="Image 0" descr="icon_m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5161" y="2118665"/>
            <a:ext cx="608990" cy="60899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31520" y="3063240"/>
            <a:ext cx="217627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Detection Layer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77240" y="3703320"/>
            <a:ext cx="2084832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C7D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rules + real-data models catch literacy patterns: letter reversals, phonetic spelling errors, reading-ladder errors and mispronunciations (phoneme-level).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044952" y="3543300"/>
            <a:ext cx="3474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2C39A"/>
                </a:solidFill>
              </a:rPr>
              <a:t>→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3346704" y="1600200"/>
            <a:ext cx="2542032" cy="4434840"/>
          </a:xfrm>
          <a:prstGeom prst="roundRect">
            <a:avLst>
              <a:gd name="adj" fmla="val 4317"/>
            </a:avLst>
          </a:prstGeom>
          <a:solidFill>
            <a:srgbClr val="0B3F41"/>
          </a:solidFill>
          <a:ln w="12700">
            <a:solidFill>
              <a:srgbClr val="0F4E5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483864" y="1737360"/>
            <a:ext cx="22677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206240" y="2011680"/>
            <a:ext cx="822960" cy="82296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14" name="Image 1" descr="icon_ch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225" y="2118665"/>
            <a:ext cx="608990" cy="60899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529584" y="3063240"/>
            <a:ext cx="217627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Scoring Layer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3575304" y="3703320"/>
            <a:ext cx="2084832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C7D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ASER-trained reading-level model (XGBoost + SHAP) plus an additive screening indicator turn those patterns into a score with an exact breakdown of why.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5843016" y="3543300"/>
            <a:ext cx="3474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2C39A"/>
                </a:solidFill>
              </a:rPr>
              <a:t>→</a:t>
            </a:r>
            <a:endParaRPr lang="en-US" sz="2000" dirty="0"/>
          </a:p>
        </p:txBody>
      </p:sp>
      <p:sp>
        <p:nvSpPr>
          <p:cNvPr id="18" name="Shape 14"/>
          <p:cNvSpPr/>
          <p:nvPr/>
        </p:nvSpPr>
        <p:spPr>
          <a:xfrm>
            <a:off x="6144768" y="1600200"/>
            <a:ext cx="2542032" cy="4434840"/>
          </a:xfrm>
          <a:prstGeom prst="roundRect">
            <a:avLst>
              <a:gd name="adj" fmla="val 4317"/>
            </a:avLst>
          </a:prstGeom>
          <a:solidFill>
            <a:srgbClr val="0B3F41"/>
          </a:solidFill>
          <a:ln w="12700">
            <a:solidFill>
              <a:srgbClr val="0F4E50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281928" y="1737360"/>
            <a:ext cx="22677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7004304" y="2011680"/>
            <a:ext cx="822960" cy="82296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21" name="Image 2" descr="icon_mag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11289" y="2118665"/>
            <a:ext cx="608990" cy="60899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327648" y="3063240"/>
            <a:ext cx="217627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Generation Layer</a:t>
            </a:r>
            <a:endParaRPr lang="en-US" sz="1450" dirty="0"/>
          </a:p>
        </p:txBody>
      </p:sp>
      <p:sp>
        <p:nvSpPr>
          <p:cNvPr id="23" name="Text 18"/>
          <p:cNvSpPr/>
          <p:nvPr/>
        </p:nvSpPr>
        <p:spPr>
          <a:xfrm>
            <a:off x="6373368" y="3703320"/>
            <a:ext cx="2084832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C7D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Personalised stories and exercises target the child's error profile — a local generator by default, Gemini as an optional enhancement.</a:t>
            </a:r>
            <a:endParaRPr lang="en-US" sz="1100" dirty="0"/>
          </a:p>
        </p:txBody>
      </p:sp>
      <p:sp>
        <p:nvSpPr>
          <p:cNvPr id="24" name="Text 19"/>
          <p:cNvSpPr/>
          <p:nvPr/>
        </p:nvSpPr>
        <p:spPr>
          <a:xfrm>
            <a:off x="8641080" y="3543300"/>
            <a:ext cx="3474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2C39A"/>
                </a:solidFill>
              </a:rPr>
              <a:t>→</a:t>
            </a:r>
            <a:endParaRPr lang="en-US" sz="2000" dirty="0"/>
          </a:p>
        </p:txBody>
      </p:sp>
      <p:sp>
        <p:nvSpPr>
          <p:cNvPr id="25" name="Shape 20"/>
          <p:cNvSpPr/>
          <p:nvPr/>
        </p:nvSpPr>
        <p:spPr>
          <a:xfrm>
            <a:off x="8942832" y="1600200"/>
            <a:ext cx="2542032" cy="4434840"/>
          </a:xfrm>
          <a:prstGeom prst="roundRect">
            <a:avLst>
              <a:gd name="adj" fmla="val 4317"/>
            </a:avLst>
          </a:prstGeom>
          <a:solidFill>
            <a:srgbClr val="0B3F41"/>
          </a:solidFill>
          <a:ln w="12700">
            <a:solidFill>
              <a:srgbClr val="0F4E50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9079992" y="1737360"/>
            <a:ext cx="22677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9802368" y="2011680"/>
            <a:ext cx="822960" cy="82296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28" name="Image 3" descr="icon_gau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09353" y="2118665"/>
            <a:ext cx="608990" cy="60899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9125712" y="3063240"/>
            <a:ext cx="217627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Reporting Layer</a:t>
            </a:r>
            <a:endParaRPr lang="en-US" sz="1450" dirty="0"/>
          </a:p>
        </p:txBody>
      </p:sp>
      <p:sp>
        <p:nvSpPr>
          <p:cNvPr id="30" name="Text 24"/>
          <p:cNvSpPr/>
          <p:nvPr/>
        </p:nvSpPr>
        <p:spPr>
          <a:xfrm>
            <a:off x="9171432" y="3703320"/>
            <a:ext cx="2084832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C7D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 for teachers and parents show progress over time with explainable score breakdowns.</a:t>
            </a:r>
            <a:endParaRPr lang="en-US" sz="1100" dirty="0"/>
          </a:p>
        </p:txBody>
      </p:sp>
      <p:sp>
        <p:nvSpPr>
          <p:cNvPr id="31" name="Text 25"/>
          <p:cNvSpPr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7FA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Explicitly a screening aid, not a diagnostic tool — a distinction that matters both ethically and academically.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82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 Stack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B7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low-resource, real-world Indian classrooms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0515600" cy="4617720"/>
          </a:xfrm>
          <a:prstGeom prst="roundRect">
            <a:avLst>
              <a:gd name="adj" fmla="val 1584"/>
            </a:avLst>
          </a:prstGeom>
          <a:solidFill>
            <a:srgbClr val="F4F9F8"/>
          </a:solidFill>
          <a:ln w="12700">
            <a:solidFill>
              <a:srgbClr val="DCEA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09344"/>
            <a:ext cx="54864" cy="347472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5544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82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566160" y="15544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7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dashboard (teachers/parents) + mobile-friendly child-facing UI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85800" y="2011680"/>
            <a:ext cx="10241280" cy="0"/>
          </a:xfrm>
          <a:prstGeom prst="line">
            <a:avLst/>
          </a:prstGeom>
          <a:noFill/>
          <a:ln w="9525">
            <a:solidFill>
              <a:srgbClr val="DCEA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066544"/>
            <a:ext cx="54864" cy="347472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0116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82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566160" y="20116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7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(Python) — non-blocking audio analysis, JWT auth, role-based access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85800" y="2468880"/>
            <a:ext cx="10241280" cy="0"/>
          </a:xfrm>
          <a:prstGeom prst="line">
            <a:avLst/>
          </a:prstGeom>
          <a:noFill/>
          <a:ln w="9525">
            <a:solidFill>
              <a:srgbClr val="DCEA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2523744"/>
            <a:ext cx="54864" cy="347472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4688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82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566160" y="24688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7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by default (zero setup), MySQL supported via one setting — profiles, screenings, scores, practice, progress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85800" y="2926080"/>
            <a:ext cx="10241280" cy="0"/>
          </a:xfrm>
          <a:prstGeom prst="line">
            <a:avLst/>
          </a:prstGeom>
          <a:noFill/>
          <a:ln w="9525">
            <a:solidFill>
              <a:srgbClr val="DCEA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2980944"/>
            <a:ext cx="54864" cy="347472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29260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82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Storage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566160" y="29260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7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storage behind an S3-shaped interface; raw research datasets stay out of the app and out of Git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85800" y="3383280"/>
            <a:ext cx="10241280" cy="0"/>
          </a:xfrm>
          <a:prstGeom prst="line">
            <a:avLst/>
          </a:prstGeom>
          <a:noFill/>
          <a:ln w="9525">
            <a:solidFill>
              <a:srgbClr val="DCEA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" y="3438144"/>
            <a:ext cx="54864" cy="347472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33832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82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ASR (Speech-to-Text)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566160" y="33832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7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faster-whisper (local, CPU, no API) — validated on real ASER clips; examiner marks stay primary, transcript correctable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85800" y="3840480"/>
            <a:ext cx="10241280" cy="0"/>
          </a:xfrm>
          <a:prstGeom prst="line">
            <a:avLst/>
          </a:prstGeom>
          <a:noFill/>
          <a:ln w="9525">
            <a:solidFill>
              <a:srgbClr val="DCEA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8640" y="3895344"/>
            <a:ext cx="54864" cy="347472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38404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82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Pronunciation Layer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3566160" y="38404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7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wav2vec2-XLSR phoneme recogniser (no language model) + accent-tolerant phoneme alignment — flags mispronounced words Whisper would "repair"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85800" y="4297680"/>
            <a:ext cx="10241280" cy="0"/>
          </a:xfrm>
          <a:prstGeom prst="line">
            <a:avLst/>
          </a:prstGeom>
          <a:noFill/>
          <a:ln w="9525">
            <a:solidFill>
              <a:srgbClr val="DCEAE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4352544"/>
            <a:ext cx="54864" cy="347472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0" name="Text 28"/>
          <p:cNvSpPr/>
          <p:nvPr/>
        </p:nvSpPr>
        <p:spPr>
          <a:xfrm>
            <a:off x="777240" y="42976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82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Error Detection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3566160" y="42976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7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edit-distance alignment, reversal / transposition / phonetic patterns — validated on Birkbeck &amp; Holbrook misspelling corpora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85800" y="4754880"/>
            <a:ext cx="10241280" cy="0"/>
          </a:xfrm>
          <a:prstGeom prst="line">
            <a:avLst/>
          </a:prstGeom>
          <a:noFill/>
          <a:ln w="9525">
            <a:solidFill>
              <a:srgbClr val="DCEAE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8640" y="4809744"/>
            <a:ext cx="54864" cy="347472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4" name="Text 32"/>
          <p:cNvSpPr/>
          <p:nvPr/>
        </p:nvSpPr>
        <p:spPr>
          <a:xfrm>
            <a:off x="777240" y="47548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82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Classifier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3566160" y="47548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7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reading-level model trained on 4,908 real ASER sessions (0.89 held-out accuracy) + additive indicator; method checked on Rello et al.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85800" y="5212080"/>
            <a:ext cx="10241280" cy="0"/>
          </a:xfrm>
          <a:prstGeom prst="line">
            <a:avLst/>
          </a:prstGeom>
          <a:noFill/>
          <a:ln w="9525">
            <a:solidFill>
              <a:srgbClr val="DCEAE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8640" y="5266944"/>
            <a:ext cx="54864" cy="347472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52120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82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3566160" y="52120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7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(TreeSHAP) on the reading-level model + exact additive contributions for the indicator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85800" y="5669280"/>
            <a:ext cx="10241280" cy="0"/>
          </a:xfrm>
          <a:prstGeom prst="line">
            <a:avLst/>
          </a:prstGeom>
          <a:noFill/>
          <a:ln w="9525">
            <a:solidFill>
              <a:srgbClr val="DCEAE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48640" y="5724144"/>
            <a:ext cx="54864" cy="347472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2" name="Text 40"/>
          <p:cNvSpPr/>
          <p:nvPr/>
        </p:nvSpPr>
        <p:spPr>
          <a:xfrm>
            <a:off x="777240" y="56692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82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Content Generation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3566160" y="56692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7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local generator (always works, no key) with optional Gemini free tier, validated and filtered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52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645920"/>
            <a:ext cx="4206240" cy="4206240"/>
          </a:xfrm>
          <a:prstGeom prst="ellipse">
            <a:avLst/>
          </a:prstGeom>
          <a:solidFill>
            <a:srgbClr val="028090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754880"/>
            <a:ext cx="3657600" cy="3657600"/>
          </a:xfrm>
          <a:prstGeom prst="ellipse">
            <a:avLst/>
          </a:prstGeom>
          <a:solidFill>
            <a:srgbClr val="00A896">
              <a:alpha val="4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4114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 Division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96012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FC7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members, five ownership areas — built MVP-first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2084832" cy="4114800"/>
          </a:xfrm>
          <a:prstGeom prst="roundRect">
            <a:avLst>
              <a:gd name="adj" fmla="val 5263"/>
            </a:avLst>
          </a:prstGeom>
          <a:solidFill>
            <a:srgbClr val="0B3F41"/>
          </a:solidFill>
          <a:ln w="12700">
            <a:solidFill>
              <a:srgbClr val="0F4E50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7" name="Shape 5"/>
          <p:cNvSpPr/>
          <p:nvPr/>
        </p:nvSpPr>
        <p:spPr>
          <a:xfrm>
            <a:off x="1271016" y="187452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8" name="Image 0" descr="icon_spe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4226" y="1957730"/>
            <a:ext cx="473659" cy="473659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85800" y="2651760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Meraiah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85800" y="2926080"/>
            <a:ext cx="181051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Text / NLP Error Detection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13232" y="3703320"/>
            <a:ext cx="175564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50" dirty="0">
                <a:solidFill>
                  <a:srgbClr val="C7D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Reversal &amp; phonetic error rules, edit-distance alignment, real-corpus validation (Birkbeck / Holbrook)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2834640" y="1600200"/>
            <a:ext cx="2084832" cy="4114800"/>
          </a:xfrm>
          <a:prstGeom prst="roundRect">
            <a:avLst>
              <a:gd name="adj" fmla="val 5263"/>
            </a:avLst>
          </a:prstGeom>
          <a:solidFill>
            <a:srgbClr val="0B3F41"/>
          </a:solidFill>
          <a:ln w="12700">
            <a:solidFill>
              <a:srgbClr val="0F4E5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557016" y="187452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14" name="Image 1" descr="icon_m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0226" y="1957730"/>
            <a:ext cx="473659" cy="473659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971800" y="2651760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Ayushi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2971800" y="2926080"/>
            <a:ext cx="181051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Speech / Audio Processing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2999232" y="3703320"/>
            <a:ext cx="175564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50" dirty="0">
                <a:solidFill>
                  <a:srgbClr val="C7D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Whisper ASR pipeline, phoneme-level pronunciation layer, fluency &amp; mismatch features, ASER validation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5120640" y="1600200"/>
            <a:ext cx="2084832" cy="4114800"/>
          </a:xfrm>
          <a:prstGeom prst="roundRect">
            <a:avLst>
              <a:gd name="adj" fmla="val 5263"/>
            </a:avLst>
          </a:prstGeom>
          <a:solidFill>
            <a:srgbClr val="0B3F41"/>
          </a:solidFill>
          <a:ln w="12700">
            <a:solidFill>
              <a:srgbClr val="0F4E50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843016" y="187452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20" name="Image 2" descr="icon_bra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6226" y="1957730"/>
            <a:ext cx="473659" cy="473659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257800" y="2651760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257800" y="2926080"/>
            <a:ext cx="181051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ML Modeling &amp; Explainability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5285232" y="3703320"/>
            <a:ext cx="175564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50" dirty="0">
                <a:solidFill>
                  <a:srgbClr val="C7D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fusion, XGBoost risk classifier, SHAP explainability, bias testing</a:t>
            </a:r>
            <a:endParaRPr lang="en-US" sz="950" dirty="0"/>
          </a:p>
        </p:txBody>
      </p:sp>
      <p:sp>
        <p:nvSpPr>
          <p:cNvPr id="24" name="Shape 19"/>
          <p:cNvSpPr/>
          <p:nvPr/>
        </p:nvSpPr>
        <p:spPr>
          <a:xfrm>
            <a:off x="7406640" y="1600200"/>
            <a:ext cx="2084832" cy="4114800"/>
          </a:xfrm>
          <a:prstGeom prst="roundRect">
            <a:avLst>
              <a:gd name="adj" fmla="val 5263"/>
            </a:avLst>
          </a:prstGeom>
          <a:solidFill>
            <a:srgbClr val="0B3F41"/>
          </a:solidFill>
          <a:ln w="12700">
            <a:solidFill>
              <a:srgbClr val="0F4E50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8129016" y="187452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26" name="Image 3" descr="icon_serv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12226" y="1957730"/>
            <a:ext cx="473659" cy="473659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7543800" y="2651760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Prashasti</a:t>
            </a:r>
            <a:endParaRPr lang="en-US" sz="1000" dirty="0"/>
          </a:p>
        </p:txBody>
      </p:sp>
      <p:sp>
        <p:nvSpPr>
          <p:cNvPr id="28" name="Text 22"/>
          <p:cNvSpPr/>
          <p:nvPr/>
        </p:nvSpPr>
        <p:spPr>
          <a:xfrm>
            <a:off x="7543800" y="2926080"/>
            <a:ext cx="181051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Backend &amp; Database</a:t>
            </a:r>
            <a:endParaRPr lang="en-US" sz="1250" dirty="0"/>
          </a:p>
        </p:txBody>
      </p:sp>
      <p:sp>
        <p:nvSpPr>
          <p:cNvPr id="29" name="Text 23"/>
          <p:cNvSpPr/>
          <p:nvPr/>
        </p:nvSpPr>
        <p:spPr>
          <a:xfrm>
            <a:off x="7571232" y="3703320"/>
            <a:ext cx="175564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50" dirty="0">
                <a:solidFill>
                  <a:srgbClr val="C7D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endpoints, SQLAlchemy schema (SQLite/MySQL), storage abstraction, optional LLM integration, consent flow</a:t>
            </a:r>
            <a:endParaRPr lang="en-US" sz="950" dirty="0"/>
          </a:p>
        </p:txBody>
      </p:sp>
      <p:sp>
        <p:nvSpPr>
          <p:cNvPr id="30" name="Shape 24"/>
          <p:cNvSpPr/>
          <p:nvPr/>
        </p:nvSpPr>
        <p:spPr>
          <a:xfrm>
            <a:off x="9692640" y="1600200"/>
            <a:ext cx="2084832" cy="4114800"/>
          </a:xfrm>
          <a:prstGeom prst="roundRect">
            <a:avLst>
              <a:gd name="adj" fmla="val 5263"/>
            </a:avLst>
          </a:prstGeom>
          <a:solidFill>
            <a:srgbClr val="0B3F41"/>
          </a:solidFill>
          <a:ln w="12700">
            <a:solidFill>
              <a:srgbClr val="0F4E50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0415016" y="187452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32" name="Image 4" descr="icon_palet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98226" y="1957730"/>
            <a:ext cx="473659" cy="473659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9829800" y="2651760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 err="1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Mantsha</a:t>
            </a:r>
            <a:endParaRPr lang="en-US" sz="1000" dirty="0"/>
          </a:p>
        </p:txBody>
      </p:sp>
      <p:sp>
        <p:nvSpPr>
          <p:cNvPr id="34" name="Text 27"/>
          <p:cNvSpPr/>
          <p:nvPr/>
        </p:nvSpPr>
        <p:spPr>
          <a:xfrm>
            <a:off x="9829800" y="2926080"/>
            <a:ext cx="181051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Frontend &amp; Product/Reporting</a:t>
            </a:r>
            <a:endParaRPr lang="en-US" sz="1250" dirty="0"/>
          </a:p>
        </p:txBody>
      </p:sp>
      <p:sp>
        <p:nvSpPr>
          <p:cNvPr id="35" name="Text 28"/>
          <p:cNvSpPr/>
          <p:nvPr/>
        </p:nvSpPr>
        <p:spPr>
          <a:xfrm>
            <a:off x="9857232" y="3703320"/>
            <a:ext cx="175564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50" dirty="0">
                <a:solidFill>
                  <a:srgbClr val="C7D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dashboard, child-facing task UI, explainability visualizations, project report</a:t>
            </a:r>
            <a:endParaRPr lang="en-US" sz="950" dirty="0"/>
          </a:p>
        </p:txBody>
      </p:sp>
      <p:sp>
        <p:nvSpPr>
          <p:cNvPr id="36" name="Text 29"/>
          <p:cNvSpPr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7FA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order: data acquisition &amp; validation  →  NLP + speech + ML  →  API  →  React app  →  demo reliability &amp; documentation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543</Words>
  <Application>Microsoft Office PowerPoint</Application>
  <PresentationFormat>Widescreen</PresentationFormat>
  <Paragraphs>79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Ayushi Mittal</cp:lastModifiedBy>
  <cp:revision>2</cp:revision>
  <dcterms:created xsi:type="dcterms:W3CDTF">2026-07-23T07:40:17Z</dcterms:created>
  <dcterms:modified xsi:type="dcterms:W3CDTF">2026-07-23T07:59:12Z</dcterms:modified>
</cp:coreProperties>
</file>